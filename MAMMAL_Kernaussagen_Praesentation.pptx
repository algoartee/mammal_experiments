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Verbesserung</c:v>
                </c:pt>
              </c:strCache>
            </c:strRef>
          </c:tx>
          <c:spPr>
            <a:solidFill>
              <a:srgbClr val="007A82"/>
            </a:solidFill>
          </c:spPr>
          <c:cat>
            <c:strRef>
              <c:f>Sheet1!$A$2:$A$6</c:f>
              <c:strCache>
                <c:ptCount val="5"/>
                <c:pt idx="0">
                  <c:v>Cell</c:v>
                </c:pt>
                <c:pt idx="1">
                  <c:v>ClinTox</c:v>
                </c:pt>
                <c:pt idx="2">
                  <c:v>Ab Inf.</c:v>
                </c:pt>
                <c:pt idx="3">
                  <c:v>PPI</c:v>
                </c:pt>
                <c:pt idx="4">
                  <c:v>DTI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4.0</c:v>
                </c:pt>
                <c:pt idx="2">
                  <c:v>19.0</c:v>
                </c:pt>
                <c:pt idx="3">
                  <c:v>28.5</c:v>
                </c:pt>
                <c:pt idx="4">
                  <c:v>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MAMMAL</c:v>
                </c:pt>
              </c:strCache>
            </c:strRef>
          </c:tx>
          <c:spPr>
            <a:solidFill>
              <a:srgbClr val="007A82"/>
            </a:solidFill>
          </c:spPr>
          <c:cat>
            <c:strRef>
              <c:f>Sheet1!$A$2:$A$8</c:f>
              <c:strCache>
                <c:ptCount val="7"/>
                <c:pt idx="0">
                  <c:v>HER2</c:v>
                </c:pt>
                <c:pt idx="1">
                  <c:v>Alb.</c:v>
                </c:pt>
                <c:pt idx="2">
                  <c:v>CD206</c:v>
                </c:pt>
                <c:pt idx="3">
                  <c:v>EGFR</c:v>
                </c:pt>
                <c:pt idx="4">
                  <c:v>TBG</c:v>
                </c:pt>
                <c:pt idx="5">
                  <c:v>TNF</c:v>
                </c:pt>
                <c:pt idx="6">
                  <c:v>VWF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0.93</c:v>
                </c:pt>
                <c:pt idx="1">
                  <c:v>0.91</c:v>
                </c:pt>
                <c:pt idx="2">
                  <c:v>1.0</c:v>
                </c:pt>
                <c:pt idx="3">
                  <c:v>0.94</c:v>
                </c:pt>
                <c:pt idx="4">
                  <c:v>0.63</c:v>
                </c:pt>
                <c:pt idx="5">
                  <c:v>0.86</c:v>
                </c:pt>
                <c:pt idx="6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AF3</c:v>
                </c:pt>
              </c:strCache>
            </c:strRef>
          </c:tx>
          <c:spPr>
            <a:solidFill>
              <a:srgbClr val="DD9732"/>
            </a:solidFill>
          </c:spPr>
          <c:cat>
            <c:strRef>
              <c:f>Sheet1!$A$2:$A$8</c:f>
              <c:strCache>
                <c:ptCount val="7"/>
                <c:pt idx="0">
                  <c:v>HER2</c:v>
                </c:pt>
                <c:pt idx="1">
                  <c:v>Alb.</c:v>
                </c:pt>
                <c:pt idx="2">
                  <c:v>CD206</c:v>
                </c:pt>
                <c:pt idx="3">
                  <c:v>EGFR</c:v>
                </c:pt>
                <c:pt idx="4">
                  <c:v>TBG</c:v>
                </c:pt>
                <c:pt idx="5">
                  <c:v>TNF</c:v>
                </c:pt>
                <c:pt idx="6">
                  <c:v>VWF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0.45</c:v>
                </c:pt>
                <c:pt idx="1">
                  <c:v>0.59</c:v>
                </c:pt>
                <c:pt idx="2">
                  <c:v>0.59</c:v>
                </c:pt>
                <c:pt idx="3">
                  <c:v>0.49</c:v>
                </c:pt>
                <c:pt idx="4">
                  <c:v>1.0</c:v>
                </c:pt>
                <c:pt idx="5">
                  <c:v>0.87</c:v>
                </c:pt>
                <c:pt idx="6">
                  <c:v>0.32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69848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MAMMAL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25296"/>
            <a:ext cx="969264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000" b="0">
                <a:solidFill>
                  <a:srgbClr val="CDE6EB"/>
                </a:solidFill>
                <a:latin typeface="Aptos"/>
              </a:rPr>
              <a:t>Molecular Aligned Multi-Modal Architecture and Language for biomedical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7955279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Kernaussage: Ein multimodales Foundation Model kann Protein-, Antikoerper-, Molekuel- und Genexpressionsdaten in einer gemeinsamen Sequenzsprache nutzen und erreicht in 9 von 11 Drug-Discovery-Benchmarks neue SOTA-Werte.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1920240" cy="987552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 Mrd.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Pretraining-Samples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069080"/>
            <a:ext cx="1920240" cy="987552"/>
          </a:xfrm>
          <a:prstGeom prst="round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Benchmarks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069080"/>
            <a:ext cx="1920240" cy="987552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9/11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SOTA-Ergebnisse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069080"/>
            <a:ext cx="1920240" cy="987552"/>
          </a:xfrm>
          <a:prstGeom prst="round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besser als AF3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78638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0">
                <a:solidFill>
                  <a:srgbClr val="C4D0DA"/>
                </a:solidFill>
                <a:latin typeface="Aptos"/>
              </a:rPr>
              <a:t>Erstellt aus s44386-026-00047-4.pdf; PDF unveraendert.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Warum das relevant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Drug discovery braucht Modelle, die Modalitaeten und Aufgaben verbinden.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325880"/>
          </a:xfrm>
          <a:prstGeom prst="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73351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Ausgangsproblem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1089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Klassische Pipelines sind teuer, langsam und leiden unter hoher klinischer Ausfallrate; viele Datenarten bleiben getrennt modelliert.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132588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1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Modell-Luecke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1089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Molekuele, Proteine, Antikoerper und Genexpression werden oft mit spezialisierten Architekturen statt gemeinsamem Kontext verarbeitet.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73152" cy="132588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73351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039112"/>
            <a:ext cx="31089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Ein Modell soll Vorhersage, Regression und Generierung ueber mehrere Stufen der Wirkstoffentwicklung hinweg unterstuetzen.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01568"/>
            <a:ext cx="10241280" cy="16002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Die Arbeit positioniert MAMMAL als integratives Modell fuer Zielidentifikation, Wirkstoffwirkung, Sicherheit, Bindung und Antikoerperdesign.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Die Evaluation ist bewusst benchmark-orientiert: vorhandene Splits, etablierte Metriken und Vergleich gegen spezialisierte SOTA-Modelle.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Die praktische Relevanz wird zusaetzlich durch eine experimentell validierte Wirkstoff-Rangfolge und AF3-Vergleiche gestuetzt.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Loesung: Eine gemeinsame Sequenzsprache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MAMMAL uebersetzt heterogene biologische Entitaeten in strukturierte Prompts.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965960" cy="8686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Small Molecules</a:t>
            </a:r>
            <a:br/>
            <a:r>
              <a:t>SMILES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08760"/>
            <a:ext cx="1965960" cy="868680"/>
          </a:xfrm>
          <a:prstGeom prst="round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Proteine</a:t>
            </a:r>
            <a:br/>
            <a:r>
              <a:t>Aminosaeuren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508760"/>
            <a:ext cx="1965960" cy="868680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Antikoerper</a:t>
            </a:r>
            <a:br/>
            <a:r>
              <a:t>Heavy/Light 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508760"/>
            <a:ext cx="1965960" cy="868680"/>
          </a:xfrm>
          <a:prstGeom prst="round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Genexpression</a:t>
            </a:r>
            <a:br/>
            <a:r>
              <a:t>sortierte Gene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788920"/>
            <a:ext cx="2971800" cy="502920"/>
          </a:xfrm>
          <a:prstGeom prst="round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Modularer Tokenizer + strukturierte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3703320"/>
            <a:ext cx="2560320" cy="50292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Transformer mit Encoder-only und Encoder-Decoder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789920" cy="109728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Zahlen werden nicht als Textziffern zerlegt, sondern ueber Projektionen direkt in den Embedding-Raum integriert.</a:t>
            </a:r>
          </a:p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Dasselbe Framework kann Klassifikation, Regression und Generierung bedienen, statt fuer jede Aufgabe ein eigenes Modell zu bauen.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Beleg 1: Breite Benchmark-Abdeckung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Leistung ueber elf Aufgaben entlang der Wirkstoffpipeline.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25880"/>
          <a:ext cx="5257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85800"/>
                <a:gridCol w="914400"/>
                <a:gridCol w="685800"/>
                <a:gridCol w="822960"/>
                <a:gridCol w="640080"/>
              </a:tblGrid>
              <a:tr h="5029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Benchmark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Domain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Metrik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SOTA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MAMMAL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Imp.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Cell type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GE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0.710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0.763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+7.5%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BBBP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+2.2%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ClinTox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SM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0.948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0.986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+4.0%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Cancer Drug 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GE+SM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0.887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0.917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+3.4%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Cancer Drug 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GE+SM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0.900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0.931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+3.4%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Ab Infilling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Protein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CDRH3-AAR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0.375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0.446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+19.0%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PPI ddG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Protein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0.663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0.852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+28.5%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DTI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Prot.+SM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NRMSE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0.906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+3.8%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909560" y="1554480"/>
          <a:ext cx="35661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55279" y="5102352"/>
            <a:ext cx="333756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Wichtig: Zwei Aufgaben sind nur kompetitiv bzw. knapp verbessert; der SOTA-Claim gilt innerhalb der gewaehlten oeffentlichen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Beleg 2: Vergleich gegen AlphaFold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MAMMAL wird als Sequenzmodell gegen AF3-Konfidenzscores fuer Binder/Nicht-Binder getestet.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25880"/>
          <a:ext cx="36576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57200"/>
                <a:gridCol w="777240"/>
                <a:gridCol w="594360"/>
                <a:gridCol w="640080"/>
              </a:tblGrid>
              <a:tr h="48577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MAMMAL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AF3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Delta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HER2 ECD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60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0.45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+0.42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Albumin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+0.32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CD206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+0.41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EGFR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+0.45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TBG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0.63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-0.37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TNF alpha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-0.01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VWF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0.32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+0.51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897880" y="1353312"/>
          <a:ext cx="55321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250">
                <a:solidFill>
                  <a:srgbClr val="122334"/>
                </a:solidFill>
                <a:latin typeface="Aptos"/>
              </a:defRPr>
            </a:pPr>
            <a:r>
              <a:t>Interpretation: AF3 liefert 3D-Hypothesen; MAMMAL liefert diskriminative Bindungswahrscheinlichkeiten. Die Studie vergleicht daher Entscheidungsnutzen, nicht identische Modellziele.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Beleg 3: Wirkstoffantwort mit Nasslabor-Anker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Vier nicht im Training enthaltene Wirkstoffe wurden in Zelllinien experimentell geprueft.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6</a:t>
            </a:r>
          </a:p>
        </p:txBody>
      </p:sp>
      <p:sp>
        <p:nvSpPr>
          <p:cNvPr id="7" name="Down Arrow 6"/>
          <p:cNvSpPr/>
          <p:nvPr/>
        </p:nvSpPr>
        <p:spPr>
          <a:xfrm>
            <a:off x="868680" y="1645920"/>
            <a:ext cx="1645920" cy="960120"/>
          </a:xfrm>
          <a:prstGeom prst="downArrow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Carfilzomib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staerkste Potenz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611880" y="1645920"/>
            <a:ext cx="1645920" cy="960120"/>
          </a:xfrm>
          <a:prstGeom prst="downArrow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Nintedanib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Rang 2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355080" y="1645920"/>
            <a:ext cx="1645920" cy="960120"/>
          </a:xfrm>
          <a:prstGeom prst="downArrow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Infigratinib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Rang 3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098280" y="1645920"/>
            <a:ext cx="1645920" cy="960120"/>
          </a:xfrm>
          <a:prstGeom prst="downArrow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Vemurafenib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geringste Potenz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241280" cy="11430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MAMMAL reproduzierte die experimentelle Potenz-Rangfolge fuer die getesteten Zelllinien.</a:t>
            </a:r>
          </a:p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Auf 805 GDSC-Zelllinien blieb die relative Ordnung in ca. 90-95% der Faelle erhalten.</a:t>
            </a:r>
          </a:p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Carfilzomib ist bisher fuer haematologische Malignitaeten zugelassen; das Signal in soliden Tumorzelllinien begruendet Follow-up, nicht unmittelbare klinische Schlussfolgerung.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Entscheidungen aus der 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Welche Architektur- und Forschungsentscheidungen tragen die Ergebnisse?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14173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8191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1. Multi-Domain statt Einzeldomain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47672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Gemeinsame Syntax fuer SMILES, Proteinsequenzen, Antikoerperketten und Genexpression.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417320"/>
          </a:xfrm>
          <a:prstGeom prst="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58191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2. Zahlen nativ modellieren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47672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Kontinuierliche Werte werden projiziert; das ist zentral fuer IC50, pKD, ddG und andere Skalen.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1732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1417320"/>
            <a:ext cx="73152" cy="141732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8191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3. Zwei Betriebsarten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947672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Encoder-only fuer Klassifikation/Regression, Encoder-Decoder fuer Generierung und Infilling.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3756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37560"/>
            <a:ext cx="73152" cy="141732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0215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4. SOTA nur mit fairen Splits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867911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Benchmark-Auswahl priorisiert oeffentliche Daten, definierte Splits und etablierte Metriken.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33756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337560"/>
            <a:ext cx="73152" cy="1417320"/>
          </a:xfrm>
          <a:prstGeom prst="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50215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5. AF3 gezielt einsetzen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867911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AF3 bleibt fuer Strukturhypothesen wertvoll; MAMMAL ist in Binder-Klassifikation oft entscheidungsstaerker.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333756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3337560"/>
            <a:ext cx="73152" cy="14173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350215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6. Offen bereitstellen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3867911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Code, Modellgewichte und Tokenizer sind als Grundlage fuer Reproduktion und weitere Studien verfuegbar.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Was man nicht ueberinterpretieren sollte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Die Evidenz ist stark, aber nicht frei von Grenzen.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257800" cy="41148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Die SOTA-Aussage haengt an den berichteten oeffentlichen Benchmarks und deren Splits.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AF3-Vergleiche nutzen Konfidenzscores als Proxy; AF3 ist kein explizit trainierter Binder-Klassifikator.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Einige AF3-Tests sind klein, z. B. HER2 mit 60 Beispielen und mehrere Targets unter 40 Beispielen.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Wirkstoffantworten aus Zelllinien und CellTiter-Glo sind fruehe Evidenz; klinische Uebertragbarkeit bleibt offen.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08760"/>
            <a:ext cx="43434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508760"/>
            <a:ext cx="73152" cy="1325880"/>
          </a:xfrm>
          <a:prstGeom prst="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673351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Implikation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039112"/>
            <a:ext cx="40233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MAMMAL ist eine robuste Forschungsplattform fuer Priorisierung und Hypothesengenerierung, aber kein Ersatz fuer prospektive biologische Validierung.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46120"/>
            <a:ext cx="43434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246120"/>
            <a:ext cx="73152" cy="132588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410712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776472"/>
            <a:ext cx="40233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Fuer produktiven Einsatz braucht es dataset-spezifische Validierung, Unsicherheitskommunikation und klare Grenzen je Task.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Naechste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Pragmatischer Weg von Paper zu nutzbarer Entscheidungsunterstuetzung.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502920" cy="4114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35024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Reproduzieren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Code/Weights laden, Zielbenchmarks lokal nachbauen, Metriken gegen Paper-Werte pruefen.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502920" cy="4114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03703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Use Case waehlen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9456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Ein klarer Arbeitsfluss: z. B. DTI-Priorisierung, Antikoerper-Binder oder Drug-Response-Ranking.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63239"/>
            <a:ext cx="502920" cy="4114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72383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Domaendaten mappen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63239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Eigene Molekuele, Proteinziele, Zelllinien und Messwerte in MAMMAL-Promptsyntax ueberfuehren.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502920" cy="411480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41063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Validieren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93192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Holdout-Sets, negative Kontrollen, Unsicherheit und prospektive Nasslabor-Tests einplanen.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502920" cy="411480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09744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Entscheiden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80060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Nur robuste Signale in Priorisierungslisten, Experimentdesigns oder Repurposing-Hypothesen uebernehmen.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Kurzfazit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Was bleibt fuer Forschung und Produktentscheidungen haengen?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MAMMAL ist vor allem ein Integrations- und Priorisierungsmodell: Es verbindet mehrere biomedizinische Modalitaeten, schlaegt spezialisierte Baselines in vielen Benchmarks und liefert verwertbare Signale fuer Folgeexperimente.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63240"/>
            <a:ext cx="306324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3063240"/>
            <a:ext cx="73152" cy="132588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2783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Kernaussage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593592"/>
            <a:ext cx="274320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Gemeinsame Sequenzmodellierung kann Drug-Discovery-Aufgaben ueber Modalitaeten hinweg vereinheitlichen.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063240"/>
            <a:ext cx="306324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3063240"/>
            <a:ext cx="73152" cy="1325880"/>
          </a:xfrm>
          <a:prstGeom prst="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22783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Belege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93592"/>
            <a:ext cx="274320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9/11 SOTA, AF3-Vergleich 5/7 Targets, wet-lab-bestaetigte Drug-Response-Rangfolge.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063240"/>
            <a:ext cx="306324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063240"/>
            <a:ext cx="73152" cy="132588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22783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Entscheidung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593592"/>
            <a:ext cx="274320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Fuer Exploration und Priorisierung einsetzen; kritische Kandidaten prospektiv validieren.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98755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>
                <a:solidFill>
                  <a:srgbClr val="5B6978"/>
                </a:solidFill>
                <a:latin typeface="Aptos"/>
              </a:rPr>
              <a:t>Empfohlene erste Anwendung: ein eng definierter Benchmark mit eigenen Daten und klarer experimenteller Nachvalidierung.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