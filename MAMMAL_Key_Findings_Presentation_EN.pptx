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improvement</c:v>
                </c:pt>
              </c:strCache>
            </c:strRef>
          </c:tx>
          <c:spPr>
            <a:solidFill>
              <a:srgbClr val="007A82"/>
            </a:solidFill>
          </c:spPr>
          <c:cat>
            <c:strRef>
              <c:f>Sheet1!$A$2:$A$6</c:f>
              <c:strCache>
                <c:ptCount val="5"/>
                <c:pt idx="0">
                  <c:v>Cell</c:v>
                </c:pt>
                <c:pt idx="1">
                  <c:v>ClinTox</c:v>
                </c:pt>
                <c:pt idx="2">
                  <c:v>Ab Inf.</c:v>
                </c:pt>
                <c:pt idx="3">
                  <c:v>PPI</c:v>
                </c:pt>
                <c:pt idx="4">
                  <c:v>DTI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4.0</c:v>
                </c:pt>
                <c:pt idx="2">
                  <c:v>19.0</c:v>
                </c:pt>
                <c:pt idx="3">
                  <c:v>28.5</c:v>
                </c:pt>
                <c:pt idx="4">
                  <c:v>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MAMMAL</c:v>
                </c:pt>
              </c:strCache>
            </c:strRef>
          </c:tx>
          <c:spPr>
            <a:solidFill>
              <a:srgbClr val="007A82"/>
            </a:solidFill>
          </c:spPr>
          <c:cat>
            <c:strRef>
              <c:f>Sheet1!$A$2:$A$8</c:f>
              <c:strCache>
                <c:ptCount val="7"/>
                <c:pt idx="0">
                  <c:v>HER2</c:v>
                </c:pt>
                <c:pt idx="1">
                  <c:v>Alb.</c:v>
                </c:pt>
                <c:pt idx="2">
                  <c:v>CD206</c:v>
                </c:pt>
                <c:pt idx="3">
                  <c:v>EGFR</c:v>
                </c:pt>
                <c:pt idx="4">
                  <c:v>TBG</c:v>
                </c:pt>
                <c:pt idx="5">
                  <c:v>TNF</c:v>
                </c:pt>
                <c:pt idx="6">
                  <c:v>VWF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0.93</c:v>
                </c:pt>
                <c:pt idx="1">
                  <c:v>0.91</c:v>
                </c:pt>
                <c:pt idx="2">
                  <c:v>1.0</c:v>
                </c:pt>
                <c:pt idx="3">
                  <c:v>0.94</c:v>
                </c:pt>
                <c:pt idx="4">
                  <c:v>0.63</c:v>
                </c:pt>
                <c:pt idx="5">
                  <c:v>0.86</c:v>
                </c:pt>
                <c:pt idx="6">
                  <c:v>0.83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AF3</c:v>
                </c:pt>
              </c:strCache>
            </c:strRef>
          </c:tx>
          <c:spPr>
            <a:solidFill>
              <a:srgbClr val="DD9732"/>
            </a:solidFill>
          </c:spPr>
          <c:cat>
            <c:strRef>
              <c:f>Sheet1!$A$2:$A$8</c:f>
              <c:strCache>
                <c:ptCount val="7"/>
                <c:pt idx="0">
                  <c:v>HER2</c:v>
                </c:pt>
                <c:pt idx="1">
                  <c:v>Alb.</c:v>
                </c:pt>
                <c:pt idx="2">
                  <c:v>CD206</c:v>
                </c:pt>
                <c:pt idx="3">
                  <c:v>EGFR</c:v>
                </c:pt>
                <c:pt idx="4">
                  <c:v>TBG</c:v>
                </c:pt>
                <c:pt idx="5">
                  <c:v>TNF</c:v>
                </c:pt>
                <c:pt idx="6">
                  <c:v>VWF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0.45</c:v>
                </c:pt>
                <c:pt idx="1">
                  <c:v>0.59</c:v>
                </c:pt>
                <c:pt idx="2">
                  <c:v>0.59</c:v>
                </c:pt>
                <c:pt idx="3">
                  <c:v>0.49</c:v>
                </c:pt>
                <c:pt idx="4">
                  <c:v>1.0</c:v>
                </c:pt>
                <c:pt idx="5">
                  <c:v>0.87</c:v>
                </c:pt>
                <c:pt idx="6">
                  <c:v>0.32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69848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MAMMAL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25296"/>
            <a:ext cx="969264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000" b="0">
                <a:solidFill>
                  <a:srgbClr val="CDE6EB"/>
                </a:solidFill>
                <a:latin typeface="Aptos"/>
              </a:rPr>
              <a:t>Molecular Aligned Multi-Modal Architecture and Language for biomedical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7955279" cy="10058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Core message: A multimodal foundation model can use protein, antibody, small-molecule, and gene-expression data in a shared sequence language and reaches new state-of-the-art results on 9 of 11 drug-discovery benchmarks.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1920240" cy="987552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pretraining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069080"/>
            <a:ext cx="1920240" cy="987552"/>
          </a:xfrm>
          <a:prstGeom prst="round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benchmarks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069080"/>
            <a:ext cx="1920240" cy="987552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9/11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577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SOTA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069080"/>
            <a:ext cx="1920240" cy="987552"/>
          </a:xfrm>
          <a:prstGeom prst="round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8" y="4206240"/>
            <a:ext cx="16916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4626864"/>
            <a:ext cx="1664208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better than AF3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78638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800" b="0">
                <a:solidFill>
                  <a:srgbClr val="C4D0DA"/>
                </a:solidFill>
                <a:latin typeface="Aptos"/>
              </a:rPr>
              <a:t>Created from s44386-026-00047-4.pdf; original PDF left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Drug discovery needs models that connect modalities and tasks.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325880"/>
          </a:xfrm>
          <a:prstGeom prst="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73351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Starting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1089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Classical pipelines are costly, slow, and face high clinical failure rates; many data types remain modeled in isolation.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73152" cy="132588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73351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Modeling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1089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Molecules, proteins, antibodies, and gene expression are often handled by specialized architectures rather than shared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4290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73152" cy="132588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673351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Target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039112"/>
            <a:ext cx="31089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One model should support prediction, regression, and generation across multiple stages of drug development.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01568"/>
            <a:ext cx="10241280" cy="16002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The paper positions MAMMAL as an integrative model for target identification, drug response, safety, binding, and antibody design.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The evaluation is deliberately benchmark-driven: existing splits, established metrics, and comparison against specialized SOTA models.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Practical relevance is supported by an experimentally validated drug-ranking result and comparisons with AF3 confidence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Solution: One shared sequence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MAMMAL translates heterogeneous biological entities into structured prompts.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965960" cy="8686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Small molecules</a:t>
            </a:r>
            <a:br/>
            <a:r>
              <a:t>SMILES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08760"/>
            <a:ext cx="1965960" cy="868680"/>
          </a:xfrm>
          <a:prstGeom prst="round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Proteins</a:t>
            </a:r>
            <a:br/>
            <a:r>
              <a:t>amino acids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508760"/>
            <a:ext cx="1965960" cy="868680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79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Antibodies</a:t>
            </a:r>
            <a:br/>
            <a:r>
              <a:t>heavy/light chains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508760"/>
            <a:ext cx="1965960" cy="868680"/>
          </a:xfrm>
          <a:prstGeom prst="round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1664208"/>
            <a:ext cx="17830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Gene expression</a:t>
            </a:r>
            <a:br/>
            <a:r>
              <a:t>ranked genes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788920"/>
            <a:ext cx="2971800" cy="502920"/>
          </a:xfrm>
          <a:prstGeom prst="round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Modular tokenizer + structured prompts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3703320"/>
            <a:ext cx="2560320" cy="50292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Transformer with encoder-only and encoder-decoder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0789920" cy="109728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Numeric values are not split into text digits; they are projected directly into the embedding space.</a:t>
            </a:r>
          </a:p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The same framework can handle classification, regression, and generation rather than requiring a separate model per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Evidence 1: Broad benchmark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Performance across eleven tasks along the drug-discovery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25880"/>
          <a:ext cx="5257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685800"/>
                <a:gridCol w="914400"/>
                <a:gridCol w="685800"/>
                <a:gridCol w="822960"/>
                <a:gridCol w="640080"/>
              </a:tblGrid>
              <a:tr h="50292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Benchmark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Domain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SOTA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MAMMAL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Imp.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Cell type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GE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0.710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0.763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+7.5%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BBBP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SM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0.937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+2.2%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ClinTox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SM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0.948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0.986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+4.0%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Cancer Drug 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GE+SM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Pearson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0.887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0.917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+3.4%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Cancer Drug 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GE+SM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Pearson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0.900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0.931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+3.4%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Ab Infilling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Protein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CDRH3-AAR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0.375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0.446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+19.0%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PPI ddG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Protein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Pearson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0.663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0.852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+28.5%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DTI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Prot.+SM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NRMSE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0.942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0.906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+3.8%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909560" y="1554480"/>
          <a:ext cx="35661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55279" y="5102352"/>
            <a:ext cx="333756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Important: Two tasks are only competitive or narrowly improved; the SOTA claim applies within the selected public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Evidence 2: Comparison with AlphaFold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MAMMAL is tested as a sequence model against AF3 confidence scores for binder/non-binder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25880"/>
          <a:ext cx="36576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57200"/>
                <a:gridCol w="777240"/>
                <a:gridCol w="594360"/>
                <a:gridCol w="640080"/>
              </a:tblGrid>
              <a:tr h="48577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MAMMAL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AF3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Delta</a:t>
                      </a:r>
                    </a:p>
                  </a:txBody>
                  <a:tcPr marL="45720" marR="45720" marT="27432" marB="27432">
                    <a:solidFill>
                      <a:srgbClr val="122334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HER2 ECD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60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0.45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+0.42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Albumin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0.59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+0.32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CD206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0.59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+0.41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EGFR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0.94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0.49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+0.45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TBG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0.63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-0.37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TNF alpha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-0.01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VWF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0.83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0.32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22334"/>
                          </a:solidFill>
                          <a:latin typeface="Aptos"/>
                        </a:defRPr>
                      </a:pPr>
                      <a:r>
                        <a:t>+0.51</a:t>
                      </a:r>
                    </a:p>
                  </a:txBody>
                  <a:tcPr marL="45720" marR="45720" marT="27432" marB="27432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897880" y="1353312"/>
          <a:ext cx="55321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250">
                <a:solidFill>
                  <a:srgbClr val="122334"/>
                </a:solidFill>
                <a:latin typeface="Aptos"/>
              </a:defRPr>
            </a:pPr>
            <a:r>
              <a:t>Interpretation: AF3 provides 3D structural hypotheses; MAMMAL provides discriminative binding probabilities. The comparison is about decision utility, not identical modeling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Evidence 3: Drug response with wet-lab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Four drugs absent from training were experimentally tested in cell 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6</a:t>
            </a:r>
          </a:p>
        </p:txBody>
      </p:sp>
      <p:sp>
        <p:nvSpPr>
          <p:cNvPr id="7" name="Down Arrow 6"/>
          <p:cNvSpPr/>
          <p:nvPr/>
        </p:nvSpPr>
        <p:spPr>
          <a:xfrm>
            <a:off x="868680" y="1645920"/>
            <a:ext cx="1645920" cy="960120"/>
          </a:xfrm>
          <a:prstGeom prst="downArrow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Carfilzomib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highest potency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611880" y="1645920"/>
            <a:ext cx="1645920" cy="960120"/>
          </a:xfrm>
          <a:prstGeom prst="downArrow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Nintedanib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rank 2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355080" y="1645920"/>
            <a:ext cx="1645920" cy="960120"/>
          </a:xfrm>
          <a:prstGeom prst="downArrow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Infigratinib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rank 3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098280" y="1645920"/>
            <a:ext cx="1645920" cy="960120"/>
          </a:xfrm>
          <a:prstGeom prst="downArrow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788920"/>
            <a:ext cx="2057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250" b="1">
                <a:solidFill>
                  <a:srgbClr val="122334"/>
                </a:solidFill>
                <a:latin typeface="Aptos"/>
              </a:rPr>
              <a:t>Vemurafenib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090672"/>
            <a:ext cx="2057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B6978"/>
                </a:solidFill>
                <a:latin typeface="Aptos"/>
              </a:rPr>
              <a:t>lowest potency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241280" cy="11430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MAMMAL reproduced the experimental potency ranking for the tested cell lines.</a:t>
            </a:r>
          </a:p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Across 805 GDSC cell lines, the relative order was preserved in roughly 90-95% of cases.</a:t>
            </a:r>
          </a:p>
          <a:p>
            <a:pPr marL="285750" indent="-171450">
              <a:spcAft>
                <a:spcPts val="500"/>
              </a:spcAft>
              <a:defRPr sz="1400">
                <a:solidFill>
                  <a:srgbClr val="122334"/>
                </a:solidFill>
                <a:latin typeface="Aptos"/>
              </a:defRPr>
            </a:pPr>
            <a:r>
              <a:t>Carfilzomib is approved for hematological malignancies; the solid-tumor-cell-line signal supports follow-up, not immediate clinical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Decisions implied by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Which architecture and research decisions carry the results?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14173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8191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1. Multi-domain over single-domain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947672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Shared syntax for SMILES, protein sequences, antibody chains, and gene expression.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417320"/>
          </a:xfrm>
          <a:prstGeom prst="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58191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2. Model numbers natively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1947672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Continuous values are projected; this is central for IC50, pKD, ddG, and other scales.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41732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1417320"/>
            <a:ext cx="73152" cy="141732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58191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3. Two operating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1947672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Encoder-only for classification/regression, encoder-decoder for generation and infilling.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3756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37560"/>
            <a:ext cx="73152" cy="1417320"/>
          </a:xfrm>
          <a:prstGeom prst="rect">
            <a:avLst/>
          </a:prstGeom>
          <a:solidFill>
            <a:srgbClr val="12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0215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4. Fair splits for SOTA claims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867911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Benchmark selection prioritizes public data, defined splits, and established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33756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337560"/>
            <a:ext cx="73152" cy="1417320"/>
          </a:xfrm>
          <a:prstGeom prst="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50215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5. Use AF3 selectively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867911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AF3 remains valuable for structural hypotheses; MAMMAL is often stronger for binder classification.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3337560"/>
            <a:ext cx="3474720" cy="14173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3337560"/>
            <a:ext cx="73152" cy="14173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3502152"/>
            <a:ext cx="315467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6. Release openly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3867911"/>
            <a:ext cx="3154679" cy="7040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Code, model weights, and tokenizer are available as a base for reproduction and further studies.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What not to overinterpret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The evidence is strong, but not unlimited.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257800" cy="411480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The SOTA claim depends on the reported public benchmarks and their splits.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AF3 comparisons use confidence scores as proxies; AF3 is not an explicitly trained binder classifier.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Some AF3 tests are small, e.g. HER2 with 60 examples and several targets under 40 examples.</a:t>
            </a:r>
          </a:p>
          <a:p>
            <a:pPr marL="285750" indent="-171450">
              <a:spcAft>
                <a:spcPts val="500"/>
              </a:spcAft>
              <a:defRPr sz="1500">
                <a:solidFill>
                  <a:srgbClr val="122334"/>
                </a:solidFill>
                <a:latin typeface="Aptos"/>
              </a:defRPr>
            </a:pPr>
            <a:r>
              <a:t>Cell-line and CellTiter-Glo drug-response results are early evidence; clinical transfer remains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08760"/>
            <a:ext cx="43434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508760"/>
            <a:ext cx="73152" cy="1325880"/>
          </a:xfrm>
          <a:prstGeom prst="rect">
            <a:avLst/>
          </a:prstGeom>
          <a:solidFill>
            <a:srgbClr val="B84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673351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039112"/>
            <a:ext cx="40233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MAMMAL is a robust research platform for prioritization and hypothesis generation, not a substitute for prospective biological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246120"/>
            <a:ext cx="434340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246120"/>
            <a:ext cx="73152" cy="132588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3410712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776472"/>
            <a:ext cx="402336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Production use requires dataset-specific validation, uncertainty communication, and explicit task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A pragmatic path from paper to usable decision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502920" cy="4114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35024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Reproduce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2588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Load code/weights, rebuild target benchmarks locally, and compare metrics with the paper.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94560"/>
            <a:ext cx="502920" cy="4114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03703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Choose a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9456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Pick one clear workflow: DTI prioritization, antibody binders, or drug-response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63239"/>
            <a:ext cx="502920" cy="411480"/>
          </a:xfrm>
          <a:prstGeom prst="round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72383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Map domain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63239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Convert internal molecules, protein targets, cell lines, and measurements into MAMMAL prompt syntax.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502920" cy="411480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41063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93192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Plan holdout sets, negative controls, uncertainty checks, and prospective wet-lab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502920" cy="411480"/>
          </a:xfrm>
          <a:prstGeom prst="round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09744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122334"/>
                </a:solidFill>
                <a:latin typeface="Aptos"/>
              </a:rP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800600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20" b="0">
                <a:solidFill>
                  <a:srgbClr val="5B6978"/>
                </a:solidFill>
                <a:latin typeface="Aptos"/>
              </a:rPr>
              <a:t>Move only robust signals into prioritization lists, experiment designs, or repurposing hypotheses.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9669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99669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5B6978"/>
                </a:solidFill>
                <a:latin typeface="Aptos"/>
              </a:rPr>
              <a:t>What matters for research and product decisions?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51560" cy="41148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850392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50" b="0">
                <a:solidFill>
                  <a:srgbClr val="5B6978"/>
                </a:solidFill>
                <a:latin typeface="Aptos"/>
              </a:rPr>
              <a:t>Quelle: Shoshan et al., npj Drug Discovery 2026, DOI 10.1038/s44386-026-00047-4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9672"/>
            <a:ext cx="41148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42416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400" b="1">
                <a:solidFill>
                  <a:srgbClr val="122334"/>
                </a:solidFill>
                <a:latin typeface="Aptos"/>
              </a:rPr>
              <a:t>MAMMAL is primarily an integration and prioritization model: it connects multiple biomedical modalities, beats specialized baselines across many benchmarks, and produces actionable signals for follow-up experiments.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63240"/>
            <a:ext cx="306324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3063240"/>
            <a:ext cx="73152" cy="132588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27832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Core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593592"/>
            <a:ext cx="274320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Shared sequence modeling can unify drug-discovery tasks across modalities.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063240"/>
            <a:ext cx="306324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3063240"/>
            <a:ext cx="73152" cy="1325880"/>
          </a:xfrm>
          <a:prstGeom prst="rect">
            <a:avLst/>
          </a:prstGeom>
          <a:solidFill>
            <a:srgbClr val="34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227832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93592"/>
            <a:ext cx="274320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9/11 SOTA, AF3 comparison on 5/7 targets, and wet-lab-confirmed drug-response ranking.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063240"/>
            <a:ext cx="3063240" cy="132588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3063240"/>
            <a:ext cx="73152" cy="1325880"/>
          </a:xfrm>
          <a:prstGeom prst="rect">
            <a:avLst/>
          </a:prstGeom>
          <a:solidFill>
            <a:srgbClr val="DD9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227832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1">
                <a:solidFill>
                  <a:srgbClr val="122334"/>
                </a:solidFill>
                <a:latin typeface="Aptos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593592"/>
            <a:ext cx="2743200" cy="612647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0">
                <a:solidFill>
                  <a:srgbClr val="5B6978"/>
                </a:solidFill>
                <a:latin typeface="Aptos"/>
              </a:rPr>
              <a:t>Use it for exploration and prioritization; prospectively validate critical candidates.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57800"/>
            <a:ext cx="98755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0">
                <a:solidFill>
                  <a:srgbClr val="5B6978"/>
                </a:solidFill>
                <a:latin typeface="Aptos"/>
              </a:rPr>
              <a:t>Recommended first application: one narrowly defined benchmark with internal data and explicit experimental follow-up.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